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78" r:id="rId5"/>
    <p:sldId id="279" r:id="rId6"/>
    <p:sldId id="280" r:id="rId7"/>
    <p:sldId id="281" r:id="rId8"/>
    <p:sldId id="283" r:id="rId9"/>
    <p:sldId id="282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0804E-AA51-47C5-B2EE-FB61C0934C0E}" v="5" dt="2026-07-24T13:37:57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1396240"/>
        <c:axId val="301396720"/>
      </c:barChart>
      <c:catAx>
        <c:axId val="30139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1396720"/>
        <c:crosses val="autoZero"/>
        <c:auto val="1"/>
        <c:lblAlgn val="ctr"/>
        <c:lblOffset val="100"/>
        <c:noMultiLvlLbl val="0"/>
      </c:catAx>
      <c:valAx>
        <c:axId val="3013967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139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1181" y="2391279"/>
            <a:ext cx="3592670" cy="175547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High Cloud Airlines Performance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76C46B-7BB4-1B74-6D64-4928EA374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80" y="359144"/>
            <a:ext cx="4236487" cy="581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Presentation by: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dirty="0"/>
              <a:t>NAVADEEP</a:t>
            </a:r>
            <a:endParaRPr lang="en-US" sz="2400" dirty="0"/>
          </a:p>
          <a:p>
            <a:r>
              <a:rPr lang="en-US" sz="2400" dirty="0"/>
              <a:t>ADITHYA </a:t>
            </a:r>
          </a:p>
          <a:p>
            <a:r>
              <a:rPr lang="en-US" sz="2400" dirty="0"/>
              <a:t>SAI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165B-9929-B27D-BB50-B6E6406C8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6138" y="243841"/>
            <a:ext cx="4725307" cy="670560"/>
          </a:xfrm>
        </p:spPr>
        <p:txBody>
          <a:bodyPr>
            <a:normAutofit/>
          </a:bodyPr>
          <a:lstStyle/>
          <a:p>
            <a:r>
              <a:rPr lang="en-IN" sz="4000" b="1" dirty="0"/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8330B-2E91-AC2D-476E-9BD35E51A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053" y="1386349"/>
            <a:ext cx="7019496" cy="488237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To analyze High Clouds Airline data and understand overall industry trends.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To identify popular and underrated Airlines based on location and flight count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To analyze the impact of weekday/weekend and distance on load factor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2000" b="1" dirty="0" err="1"/>
              <a:t>Analyze</a:t>
            </a:r>
            <a:r>
              <a:rPr lang="en-AU" sz="2000" b="1" dirty="0"/>
              <a:t> passenger demand and unused seat capacity for operational optimization. </a:t>
            </a:r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2000" b="1" dirty="0"/>
              <a:t>Identify top-performing carriers and busiest flight routes.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To provide data-driven insights that help airlines improve pricing, service, and location strategy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algn="l"/>
            <a:endParaRPr lang="en-US" sz="2000" b="1" dirty="0"/>
          </a:p>
          <a:p>
            <a:pPr algn="l"/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3C4B9-7D48-1781-FE35-1F512DEE2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701040"/>
            <a:ext cx="5645848" cy="395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0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65A1-16F2-2922-7E26-AE13D78A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3520"/>
            <a:ext cx="10353762" cy="1371600"/>
          </a:xfrm>
        </p:spPr>
        <p:txBody>
          <a:bodyPr/>
          <a:lstStyle/>
          <a:p>
            <a:r>
              <a:rPr lang="en-IN" u="sng" dirty="0"/>
              <a:t>Client Problem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84432D-D086-913D-3A52-898F9A6EF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5120"/>
            <a:ext cx="10353762" cy="5039360"/>
          </a:xfrm>
        </p:spPr>
        <p:txBody>
          <a:bodyPr>
            <a:normAutofit/>
          </a:bodyPr>
          <a:lstStyle/>
          <a:p>
            <a:r>
              <a:rPr lang="en-AU" dirty="0"/>
              <a:t> The airline lacks visibility into flight performance across different routes and carriers, making it difficult to evaluate overall operational efficiency.</a:t>
            </a:r>
          </a:p>
          <a:p>
            <a:r>
              <a:rPr lang="en-AU" dirty="0"/>
              <a:t>The management is unable to identify underutilized flights and unused seat capacity, resulting in inefficient resource utilization.</a:t>
            </a:r>
          </a:p>
          <a:p>
            <a:r>
              <a:rPr lang="en-AU" dirty="0"/>
              <a:t>The client requires analysis of passenger demand, load factor, top-performing carriers, and route performance to support capacity planning and operational improvements.</a:t>
            </a:r>
          </a:p>
          <a:p>
            <a:r>
              <a:rPr lang="en-AU" dirty="0"/>
              <a:t>The client needs to identify travel patterns based on weekends vs weekdays, flight distance groups, and source-to-destination routes to optimize network planning and improve service efficiency.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835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4472-F1D0-869A-46A4-9D6C5117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A2DB-56B3-802A-7F5A-1A23D5EE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 (Module-wise)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0F3BBB3-313D-91C7-1832-BA6D2DBD82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CF347A9-AD91-1674-671D-F78394DD786C}"/>
              </a:ext>
            </a:extLst>
          </p:cNvPr>
          <p:cNvSpPr/>
          <p:nvPr/>
        </p:nvSpPr>
        <p:spPr>
          <a:xfrm>
            <a:off x="924443" y="2076450"/>
            <a:ext cx="2782318" cy="36262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Designing dynamic dashboards using pivot tables and slicers without affecting data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Ensuring slicers affected only relevant visuals without impacting unrelated KPIs</a:t>
            </a:r>
          </a:p>
          <a:p>
            <a:endParaRPr lang="en-US" dirty="0"/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3B9858-0C01-ACF7-0F62-28A8CDBE12AB}"/>
              </a:ext>
            </a:extLst>
          </p:cNvPr>
          <p:cNvSpPr/>
          <p:nvPr/>
        </p:nvSpPr>
        <p:spPr>
          <a:xfrm>
            <a:off x="4237703" y="2113938"/>
            <a:ext cx="2349910" cy="36772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  <a:p>
            <a:pPr algn="ctr"/>
            <a:r>
              <a:rPr lang="en-US" dirty="0"/>
              <a:t>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accurate relationships and measures for dynamic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Implementing bookmarks, page navigation, and reset filters.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A5D7-D688-D999-A25D-88E04F4448C2}"/>
              </a:ext>
            </a:extLst>
          </p:cNvPr>
          <p:cNvSpPr/>
          <p:nvPr/>
        </p:nvSpPr>
        <p:spPr>
          <a:xfrm>
            <a:off x="7541343" y="2261419"/>
            <a:ext cx="2370178" cy="3274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  <a:p>
            <a:pPr algn="ctr"/>
            <a:r>
              <a:rPr lang="en-US" dirty="0"/>
              <a:t>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Designing clear and interactive dashboards with proper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Applying filters across multiple worksheets.</a:t>
            </a:r>
            <a:endParaRPr lang="en-US" dirty="0"/>
          </a:p>
          <a:p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54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BBF0-7714-4EFB-9F50-9D74B20DB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/>
              <a:t>Steps Taken to Solve</a:t>
            </a:r>
            <a:endParaRPr lang="en-IN" dirty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0F10AAD8-AB83-7096-1DC7-E7DF457CF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AFA83-2D72-C5B8-3B05-667DB5D03027}"/>
              </a:ext>
            </a:extLst>
          </p:cNvPr>
          <p:cNvSpPr txBox="1"/>
          <p:nvPr/>
        </p:nvSpPr>
        <p:spPr>
          <a:xfrm>
            <a:off x="1703353" y="2181321"/>
            <a:ext cx="36576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Taken and understood the  dataset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B1F5C92-2F29-74B1-1560-5D73B5468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DEE95-6A62-BA6E-D57D-D9CD6BD7F798}"/>
              </a:ext>
            </a:extLst>
          </p:cNvPr>
          <p:cNvSpPr txBox="1"/>
          <p:nvPr/>
        </p:nvSpPr>
        <p:spPr>
          <a:xfrm>
            <a:off x="7477162" y="2203936"/>
            <a:ext cx="36576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Built pivot tables and Excel dashboards for quick analysis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C35049-FEC4-28E0-F538-1B84EE8AA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D66E7-92B3-381C-216E-06270C9A38ED}"/>
              </a:ext>
            </a:extLst>
          </p:cNvPr>
          <p:cNvSpPr txBox="1"/>
          <p:nvPr/>
        </p:nvSpPr>
        <p:spPr>
          <a:xfrm>
            <a:off x="1703353" y="3472530"/>
            <a:ext cx="36576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Cleaned the data using Excel by handling missing values and inconsistencies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4F1D921E-284C-2D54-327B-63D294F8C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541BD-BF04-87A2-E908-C4708392A371}"/>
              </a:ext>
            </a:extLst>
          </p:cNvPr>
          <p:cNvSpPr txBox="1"/>
          <p:nvPr/>
        </p:nvSpPr>
        <p:spPr>
          <a:xfrm>
            <a:off x="7488048" y="3510536"/>
            <a:ext cx="36576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Created interactive dashboards in Power BI and Tableau for visualization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E3C4EFCA-0ED6-BE02-36D6-FCAA3E7D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0099A-B0C0-A0D8-6959-4EA19A6EBFC2}"/>
              </a:ext>
            </a:extLst>
          </p:cNvPr>
          <p:cNvSpPr txBox="1"/>
          <p:nvPr/>
        </p:nvSpPr>
        <p:spPr>
          <a:xfrm>
            <a:off x="1703353" y="4765952"/>
            <a:ext cx="36576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Performed data analysis and complex queries using SQL for insights extraction</a:t>
            </a:r>
            <a:endParaRPr lang="en-US" sz="1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CBDCAB3A-E322-F21D-61C1-127240F3A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6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9FA6B-AEBD-5DA4-7348-307E10B50934}"/>
              </a:ext>
            </a:extLst>
          </p:cNvPr>
          <p:cNvSpPr txBox="1"/>
          <p:nvPr/>
        </p:nvSpPr>
        <p:spPr>
          <a:xfrm>
            <a:off x="7488048" y="4830431"/>
            <a:ext cx="36576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Analyzed insights and summarized findings for business decision-making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52479-191B-289A-AFCF-E17AF0CB64AA}"/>
              </a:ext>
            </a:extLst>
          </p:cNvPr>
          <p:cNvSpPr/>
          <p:nvPr/>
        </p:nvSpPr>
        <p:spPr>
          <a:xfrm>
            <a:off x="923307" y="2122844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A03873-EDA2-1DFB-2613-80EB95AB5E8D}"/>
              </a:ext>
            </a:extLst>
          </p:cNvPr>
          <p:cNvSpPr/>
          <p:nvPr/>
        </p:nvSpPr>
        <p:spPr>
          <a:xfrm>
            <a:off x="912421" y="3530305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5C885B-D074-06E3-09FF-C6B17503CD07}"/>
              </a:ext>
            </a:extLst>
          </p:cNvPr>
          <p:cNvSpPr/>
          <p:nvPr/>
        </p:nvSpPr>
        <p:spPr>
          <a:xfrm>
            <a:off x="932286" y="4778318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33FC96-4F03-B3A2-7B28-D80B8280078C}"/>
              </a:ext>
            </a:extLst>
          </p:cNvPr>
          <p:cNvSpPr/>
          <p:nvPr/>
        </p:nvSpPr>
        <p:spPr>
          <a:xfrm>
            <a:off x="6706095" y="2105016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A1BE99-2C72-7F5F-E25C-45F252E5C53C}"/>
              </a:ext>
            </a:extLst>
          </p:cNvPr>
          <p:cNvSpPr/>
          <p:nvPr/>
        </p:nvSpPr>
        <p:spPr>
          <a:xfrm>
            <a:off x="6717144" y="3510536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40F25-D4D4-BC95-A184-CAE89E8AADAF}"/>
              </a:ext>
            </a:extLst>
          </p:cNvPr>
          <p:cNvSpPr/>
          <p:nvPr/>
        </p:nvSpPr>
        <p:spPr>
          <a:xfrm>
            <a:off x="6717143" y="4765952"/>
            <a:ext cx="2678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751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92B5-9E07-2817-02FF-7FEFAD11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41C9-76AB-2E5D-6C6D-20DAB8051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/>
              <a:t>Excel Dashboard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20BCD8C9-3E19-B6AB-6053-B678254C5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33283-2B17-6ACB-0C06-E8C42B5F9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88" y="1129029"/>
            <a:ext cx="11166423" cy="524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5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1036-E428-AB47-0FEA-F94E34FC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409-8B68-958E-3EDB-316B1072A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Dashboard-1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6FEC609B-0E34-6B60-8106-8CCEB9F8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F543A-089B-9CCB-C265-0820D862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105852"/>
            <a:ext cx="10790503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2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E321-774A-13AE-64FE-E909FE19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F196-8854-551B-5FF8-0D5811220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Dashboard-2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AF74058-E21E-2E57-F298-03A8349A2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15015-FBF5-D6EA-10AF-84B88F3D4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1" y="1109980"/>
            <a:ext cx="10861622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07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17A1-00F4-BB61-2D86-942851FF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71E1-63D7-7DA6-E2B3-0F99D3F86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Dashboard-3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B35584D9-E9D5-0B10-D8C1-A67D1698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C9B4B-1ADD-613A-CAB9-4749D6EF1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17" y="1032122"/>
            <a:ext cx="10973966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3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76EE-F44C-417A-5415-099A1FB1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0035-F316-2B94-FB93-193A5097B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/>
              <a:t>Tableau Dashboard-1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6CCB008-4D1E-82F7-6873-CD7903F17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1E7E4-8A7D-4711-BA92-B7FE07771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17" y="1032122"/>
            <a:ext cx="10973966" cy="56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6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6AE1-D957-E74A-65D6-FAEDCA5F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DAF0-FEC6-AD25-517A-0706B8C7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558" y="127820"/>
            <a:ext cx="9440034" cy="904302"/>
          </a:xfrm>
        </p:spPr>
        <p:txBody>
          <a:bodyPr/>
          <a:lstStyle/>
          <a:p>
            <a:r>
              <a:rPr lang="en-US" dirty="0"/>
              <a:t>Tableau Dashboard-2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52270873-FF3D-401B-F819-5B32961AF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AFE65-D36C-486D-A15A-4BB22097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17" y="1032122"/>
            <a:ext cx="10973965" cy="56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1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F61C-136D-843B-E6A4-ECC1C527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7B66-475D-6066-0ADC-078D834AB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3520"/>
            <a:ext cx="10353762" cy="1371600"/>
          </a:xfrm>
        </p:spPr>
        <p:txBody>
          <a:bodyPr/>
          <a:lstStyle/>
          <a:p>
            <a:r>
              <a:rPr lang="en-IN" u="sng" dirty="0"/>
              <a:t>Key Business Insights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B1E6A6-77D1-A426-E4D0-C5A9C49B8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5120"/>
            <a:ext cx="10353762" cy="4155440"/>
          </a:xfrm>
        </p:spPr>
        <p:txBody>
          <a:bodyPr>
            <a:normAutofit/>
          </a:bodyPr>
          <a:lstStyle/>
          <a:p>
            <a:r>
              <a:rPr lang="en-AU" dirty="0"/>
              <a:t> Overall Load Factor remained around </a:t>
            </a:r>
            <a:r>
              <a:rPr lang="en-AU" b="1" dirty="0"/>
              <a:t>76.8%</a:t>
            </a:r>
            <a:r>
              <a:rPr lang="en-AU" dirty="0"/>
              <a:t>, indicating efficient seat utilization.</a:t>
            </a:r>
          </a:p>
          <a:p>
            <a:r>
              <a:rPr lang="en-AU" dirty="0"/>
              <a:t>Southwest Airlines transported the highest number of passengers.</a:t>
            </a:r>
          </a:p>
          <a:p>
            <a:r>
              <a:rPr lang="en-AU" dirty="0"/>
              <a:t>Certain routes consistently experienced the highest flight traffic.</a:t>
            </a:r>
          </a:p>
          <a:p>
            <a:r>
              <a:rPr lang="en-AU" dirty="0"/>
              <a:t>January recorded the highest number of unused seats.</a:t>
            </a:r>
          </a:p>
          <a:p>
            <a:r>
              <a:rPr lang="en-AU" dirty="0"/>
              <a:t>Short-distance flights accounted for the majority of departures.</a:t>
            </a:r>
          </a:p>
          <a:p>
            <a:r>
              <a:rPr lang="en-AU" dirty="0"/>
              <a:t>Weekend Load Factor was slightly higher than weekday performance.</a:t>
            </a:r>
          </a:p>
          <a:p>
            <a:r>
              <a:rPr lang="en-AU" dirty="0"/>
              <a:t>Interactive dashboards provide faster decision-making through dynamic filtering and KPI monitoring. 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350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4799C-1457-E25F-D1F6-4A852BB9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1717-D72F-E092-06AD-7EFEAD7F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3520"/>
            <a:ext cx="10353762" cy="1371600"/>
          </a:xfrm>
        </p:spPr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5CC00-3F90-AD62-8575-EF0D1AF158A2}"/>
              </a:ext>
            </a:extLst>
          </p:cNvPr>
          <p:cNvSpPr txBox="1"/>
          <p:nvPr/>
        </p:nvSpPr>
        <p:spPr>
          <a:xfrm>
            <a:off x="2174240" y="1628726"/>
            <a:ext cx="820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This project demonstrates how data analytics can improve airline operations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8DADD-A3BD-1C6B-B197-2EA28C5E6E14}"/>
              </a:ext>
            </a:extLst>
          </p:cNvPr>
          <p:cNvSpPr txBox="1"/>
          <p:nvPr/>
        </p:nvSpPr>
        <p:spPr>
          <a:xfrm>
            <a:off x="579120" y="2551836"/>
            <a:ext cx="108915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Monitoring operational KPIs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Optimizing seat utilization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Identifying high-demand routes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Evaluating carrier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Supporting strategic business decisions through interactive dashboards </a:t>
            </a:r>
          </a:p>
        </p:txBody>
      </p:sp>
    </p:spTree>
    <p:extLst>
      <p:ext uri="{BB962C8B-B14F-4D97-AF65-F5344CB8AC3E}">
        <p14:creationId xmlns:p14="http://schemas.microsoft.com/office/powerpoint/2010/main" val="246952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3E69-F0C3-F0C4-71A9-D8D861CC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C09E-C609-E033-6158-B392A7057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980" y="2683133"/>
            <a:ext cx="3452040" cy="1491734"/>
          </a:xfrm>
        </p:spPr>
        <p:txBody>
          <a:bodyPr>
            <a:noAutofit/>
          </a:bodyPr>
          <a:lstStyle/>
          <a:p>
            <a:r>
              <a:rPr lang="en-IN" sz="540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C6B4B-8FE9-DFA2-AB37-7703F3C6A8AA}"/>
              </a:ext>
            </a:extLst>
          </p:cNvPr>
          <p:cNvSpPr txBox="1"/>
          <p:nvPr/>
        </p:nvSpPr>
        <p:spPr>
          <a:xfrm>
            <a:off x="5120640" y="3704829"/>
            <a:ext cx="195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59455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{337496C6-54B8-4397-9DE8-EB17F2FF6612}TFe742eee6-54b3-45e8-a03d-f3d997f9b6caf6c338c2_win32-3734725ae7e2</Template>
  <TotalTime>432</TotalTime>
  <Words>435</Words>
  <Application>Microsoft Office PowerPoint</Application>
  <PresentationFormat>Widescreen</PresentationFormat>
  <Paragraphs>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Goudy Old Style</vt:lpstr>
      <vt:lpstr>Wingdings 2</vt:lpstr>
      <vt:lpstr>SlateVTI</vt:lpstr>
      <vt:lpstr>High Cloud Airlines Performance Analysis</vt:lpstr>
      <vt:lpstr>Presentation by: </vt:lpstr>
      <vt:lpstr>Project Objective</vt:lpstr>
      <vt:lpstr>Client Problem Statement</vt:lpstr>
      <vt:lpstr>Challenges Faced (Module-wise)</vt:lpstr>
      <vt:lpstr>Steps Taken to Solve</vt:lpstr>
      <vt:lpstr>Excel Dashboard</vt:lpstr>
      <vt:lpstr>PowerBI Dashboard-1</vt:lpstr>
      <vt:lpstr>PowerBI Dashboard-2</vt:lpstr>
      <vt:lpstr>PowerBI Dashboard-3</vt:lpstr>
      <vt:lpstr>Tableau Dashboard-1</vt:lpstr>
      <vt:lpstr>Tableau Dashboard-2</vt:lpstr>
      <vt:lpstr>Key Business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RUCHISHREE B K 126244554</dc:creator>
  <cp:lastModifiedBy>RUCHISHREE B K 126244554</cp:lastModifiedBy>
  <cp:revision>6</cp:revision>
  <dcterms:created xsi:type="dcterms:W3CDTF">2026-07-24T11:35:17Z</dcterms:created>
  <dcterms:modified xsi:type="dcterms:W3CDTF">2026-07-25T11:26:13Z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